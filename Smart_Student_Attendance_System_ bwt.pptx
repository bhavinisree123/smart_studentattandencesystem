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4C864-A886-4C27-A96C-552D8AD4A69B}" v="3" dt="2026-10-10T05:12:01.3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yjaisy@outlook.com" userId="9d90b41700587de4" providerId="LiveId" clId="{59F5EA02-6EC5-44A7-9721-881EE64E0B6C}"/>
    <pc:docChg chg="addSld modSld">
      <pc:chgData name="meryjaisy@outlook.com" userId="9d90b41700587de4" providerId="LiveId" clId="{59F5EA02-6EC5-44A7-9721-881EE64E0B6C}" dt="2026-10-10T05:13:31.835" v="19"/>
      <pc:docMkLst>
        <pc:docMk/>
      </pc:docMkLst>
      <pc:sldChg chg="addSp delSp modSp">
        <pc:chgData name="meryjaisy@outlook.com" userId="9d90b41700587de4" providerId="LiveId" clId="{59F5EA02-6EC5-44A7-9721-881EE64E0B6C}" dt="2026-10-10T05:08:56.913" v="11"/>
        <pc:sldMkLst>
          <pc:docMk/>
          <pc:sldMk cId="0" sldId="256"/>
        </pc:sldMkLst>
        <pc:spChg chg="del">
          <ac:chgData name="meryjaisy@outlook.com" userId="9d90b41700587de4" providerId="LiveId" clId="{59F5EA02-6EC5-44A7-9721-881EE64E0B6C}" dt="2026-10-10T04:59:59.224" v="0"/>
          <ac:spMkLst>
            <pc:docMk/>
            <pc:sldMk cId="0" sldId="256"/>
            <ac:spMk id="5" creationId="{00000000-0000-0000-0000-000000000000}"/>
          </ac:spMkLst>
        </pc:spChg>
        <pc:spChg chg="mod">
          <ac:chgData name="meryjaisy@outlook.com" userId="9d90b41700587de4" providerId="LiveId" clId="{59F5EA02-6EC5-44A7-9721-881EE64E0B6C}" dt="2026-10-10T05:08:25.679" v="10"/>
          <ac:spMkLst>
            <pc:docMk/>
            <pc:sldMk cId="0" sldId="256"/>
            <ac:spMk id="6" creationId="{00000000-0000-0000-0000-000000000000}"/>
          </ac:spMkLst>
        </pc:spChg>
        <pc:spChg chg="del">
          <ac:chgData name="meryjaisy@outlook.com" userId="9d90b41700587de4" providerId="LiveId" clId="{59F5EA02-6EC5-44A7-9721-881EE64E0B6C}" dt="2026-10-10T05:01:35.038" v="2"/>
          <ac:spMkLst>
            <pc:docMk/>
            <pc:sldMk cId="0" sldId="256"/>
            <ac:spMk id="9" creationId="{00000000-0000-0000-0000-000000000000}"/>
          </ac:spMkLst>
        </pc:spChg>
        <pc:spChg chg="del">
          <ac:chgData name="meryjaisy@outlook.com" userId="9d90b41700587de4" providerId="LiveId" clId="{59F5EA02-6EC5-44A7-9721-881EE64E0B6C}" dt="2026-10-10T05:01:51.798" v="3"/>
          <ac:spMkLst>
            <pc:docMk/>
            <pc:sldMk cId="0" sldId="256"/>
            <ac:spMk id="15" creationId="{00000000-0000-0000-0000-000000000000}"/>
          </ac:spMkLst>
        </pc:spChg>
        <pc:spChg chg="del">
          <ac:chgData name="meryjaisy@outlook.com" userId="9d90b41700587de4" providerId="LiveId" clId="{59F5EA02-6EC5-44A7-9721-881EE64E0B6C}" dt="2026-10-10T05:00:57.769" v="1"/>
          <ac:spMkLst>
            <pc:docMk/>
            <pc:sldMk cId="0" sldId="256"/>
            <ac:spMk id="16" creationId="{00000000-0000-0000-0000-000000000000}"/>
          </ac:spMkLst>
        </pc:spChg>
        <pc:picChg chg="add">
          <ac:chgData name="meryjaisy@outlook.com" userId="9d90b41700587de4" providerId="LiveId" clId="{59F5EA02-6EC5-44A7-9721-881EE64E0B6C}" dt="2026-10-10T05:08:56.913" v="11"/>
          <ac:picMkLst>
            <pc:docMk/>
            <pc:sldMk cId="0" sldId="256"/>
            <ac:picMk id="19" creationId="{1E06D016-507A-1553-74F0-D91F43B0C135}"/>
          </ac:picMkLst>
        </pc:picChg>
      </pc:sldChg>
      <pc:sldChg chg="delSp">
        <pc:chgData name="meryjaisy@outlook.com" userId="9d90b41700587de4" providerId="LiveId" clId="{59F5EA02-6EC5-44A7-9721-881EE64E0B6C}" dt="2026-10-10T05:03:17.813" v="4"/>
        <pc:sldMkLst>
          <pc:docMk/>
          <pc:sldMk cId="0" sldId="257"/>
        </pc:sldMkLst>
        <pc:spChg chg="del">
          <ac:chgData name="meryjaisy@outlook.com" userId="9d90b41700587de4" providerId="LiveId" clId="{59F5EA02-6EC5-44A7-9721-881EE64E0B6C}" dt="2026-10-10T05:03:17.813" v="4"/>
          <ac:spMkLst>
            <pc:docMk/>
            <pc:sldMk cId="0" sldId="257"/>
            <ac:spMk id="18" creationId="{00000000-0000-0000-0000-000000000000}"/>
          </ac:spMkLst>
        </pc:spChg>
      </pc:sldChg>
      <pc:sldChg chg="delSp">
        <pc:chgData name="meryjaisy@outlook.com" userId="9d90b41700587de4" providerId="LiveId" clId="{59F5EA02-6EC5-44A7-9721-881EE64E0B6C}" dt="2026-10-10T05:03:26.748" v="5"/>
        <pc:sldMkLst>
          <pc:docMk/>
          <pc:sldMk cId="0" sldId="258"/>
        </pc:sldMkLst>
        <pc:spChg chg="del">
          <ac:chgData name="meryjaisy@outlook.com" userId="9d90b41700587de4" providerId="LiveId" clId="{59F5EA02-6EC5-44A7-9721-881EE64E0B6C}" dt="2026-10-10T05:03:26.748" v="5"/>
          <ac:spMkLst>
            <pc:docMk/>
            <pc:sldMk cId="0" sldId="258"/>
            <ac:spMk id="2" creationId="{00000000-0000-0000-0000-000000000000}"/>
          </ac:spMkLst>
        </pc:spChg>
      </pc:sldChg>
      <pc:sldChg chg="delSp">
        <pc:chgData name="meryjaisy@outlook.com" userId="9d90b41700587de4" providerId="LiveId" clId="{59F5EA02-6EC5-44A7-9721-881EE64E0B6C}" dt="2026-10-10T05:06:00.121" v="6"/>
        <pc:sldMkLst>
          <pc:docMk/>
          <pc:sldMk cId="0" sldId="260"/>
        </pc:sldMkLst>
        <pc:spChg chg="del">
          <ac:chgData name="meryjaisy@outlook.com" userId="9d90b41700587de4" providerId="LiveId" clId="{59F5EA02-6EC5-44A7-9721-881EE64E0B6C}" dt="2026-10-10T05:06:00.121" v="6"/>
          <ac:spMkLst>
            <pc:docMk/>
            <pc:sldMk cId="0" sldId="260"/>
            <ac:spMk id="2" creationId="{00000000-0000-0000-0000-000000000000}"/>
          </ac:spMkLst>
        </pc:spChg>
      </pc:sldChg>
      <pc:sldChg chg="delSp">
        <pc:chgData name="meryjaisy@outlook.com" userId="9d90b41700587de4" providerId="LiveId" clId="{59F5EA02-6EC5-44A7-9721-881EE64E0B6C}" dt="2026-10-10T05:06:29.350" v="7"/>
        <pc:sldMkLst>
          <pc:docMk/>
          <pc:sldMk cId="0" sldId="261"/>
        </pc:sldMkLst>
        <pc:spChg chg="del">
          <ac:chgData name="meryjaisy@outlook.com" userId="9d90b41700587de4" providerId="LiveId" clId="{59F5EA02-6EC5-44A7-9721-881EE64E0B6C}" dt="2026-10-10T05:06:29.350" v="7"/>
          <ac:spMkLst>
            <pc:docMk/>
            <pc:sldMk cId="0" sldId="261"/>
            <ac:spMk id="2" creationId="{00000000-0000-0000-0000-000000000000}"/>
          </ac:spMkLst>
        </pc:spChg>
      </pc:sldChg>
      <pc:sldChg chg="delSp">
        <pc:chgData name="meryjaisy@outlook.com" userId="9d90b41700587de4" providerId="LiveId" clId="{59F5EA02-6EC5-44A7-9721-881EE64E0B6C}" dt="2026-10-10T05:07:26.529" v="9"/>
        <pc:sldMkLst>
          <pc:docMk/>
          <pc:sldMk cId="0" sldId="262"/>
        </pc:sldMkLst>
        <pc:spChg chg="del">
          <ac:chgData name="meryjaisy@outlook.com" userId="9d90b41700587de4" providerId="LiveId" clId="{59F5EA02-6EC5-44A7-9721-881EE64E0B6C}" dt="2026-10-10T05:06:48.448" v="8"/>
          <ac:spMkLst>
            <pc:docMk/>
            <pc:sldMk cId="0" sldId="262"/>
            <ac:spMk id="2" creationId="{00000000-0000-0000-0000-000000000000}"/>
          </ac:spMkLst>
        </pc:spChg>
        <pc:spChg chg="del">
          <ac:chgData name="meryjaisy@outlook.com" userId="9d90b41700587de4" providerId="LiveId" clId="{59F5EA02-6EC5-44A7-9721-881EE64E0B6C}" dt="2026-10-10T05:07:26.529" v="9"/>
          <ac:spMkLst>
            <pc:docMk/>
            <pc:sldMk cId="0" sldId="262"/>
            <ac:spMk id="28" creationId="{00000000-0000-0000-0000-000000000000}"/>
          </ac:spMkLst>
        </pc:spChg>
      </pc:sldChg>
      <pc:sldChg chg="add setBg">
        <pc:chgData name="meryjaisy@outlook.com" userId="9d90b41700587de4" providerId="LiveId" clId="{59F5EA02-6EC5-44A7-9721-881EE64E0B6C}" dt="2026-10-10T05:11:34.581" v="12"/>
        <pc:sldMkLst>
          <pc:docMk/>
          <pc:sldMk cId="2555176859" sldId="263"/>
        </pc:sldMkLst>
      </pc:sldChg>
      <pc:sldChg chg="delSp add setBg">
        <pc:chgData name="meryjaisy@outlook.com" userId="9d90b41700587de4" providerId="LiveId" clId="{59F5EA02-6EC5-44A7-9721-881EE64E0B6C}" dt="2026-10-10T05:13:31.835" v="19"/>
        <pc:sldMkLst>
          <pc:docMk/>
          <pc:sldMk cId="3699218255" sldId="263"/>
        </pc:sldMkLst>
        <pc:spChg chg="del">
          <ac:chgData name="meryjaisy@outlook.com" userId="9d90b41700587de4" providerId="LiveId" clId="{59F5EA02-6EC5-44A7-9721-881EE64E0B6C}" dt="2026-10-10T05:13:31.832" v="15"/>
          <ac:spMkLst>
            <pc:docMk/>
            <pc:sldMk cId="3699218255" sldId="263"/>
            <ac:spMk id="9" creationId="{4EA9F6A7-4A9E-59C8-F306-057F198CA62E}"/>
          </ac:spMkLst>
        </pc:spChg>
        <pc:spChg chg="del">
          <ac:chgData name="meryjaisy@outlook.com" userId="9d90b41700587de4" providerId="LiveId" clId="{59F5EA02-6EC5-44A7-9721-881EE64E0B6C}" dt="2026-10-10T05:12:21.484" v="14"/>
          <ac:spMkLst>
            <pc:docMk/>
            <pc:sldMk cId="3699218255" sldId="263"/>
            <ac:spMk id="12" creationId="{E3E12D05-39D8-D43F-858C-79FA8430C4AB}"/>
          </ac:spMkLst>
        </pc:spChg>
        <pc:spChg chg="del">
          <ac:chgData name="meryjaisy@outlook.com" userId="9d90b41700587de4" providerId="LiveId" clId="{59F5EA02-6EC5-44A7-9721-881EE64E0B6C}" dt="2026-10-10T05:13:31.833" v="16"/>
          <ac:spMkLst>
            <pc:docMk/>
            <pc:sldMk cId="3699218255" sldId="263"/>
            <ac:spMk id="13" creationId="{FBC4DF3F-94FC-6426-6AA5-195F98DFA70F}"/>
          </ac:spMkLst>
        </pc:spChg>
        <pc:spChg chg="del">
          <ac:chgData name="meryjaisy@outlook.com" userId="9d90b41700587de4" providerId="LiveId" clId="{59F5EA02-6EC5-44A7-9721-881EE64E0B6C}" dt="2026-10-10T05:13:31.834" v="17"/>
          <ac:spMkLst>
            <pc:docMk/>
            <pc:sldMk cId="3699218255" sldId="263"/>
            <ac:spMk id="17" creationId="{18F56BD8-B4B9-10D2-7529-EFBF4F811C80}"/>
          </ac:spMkLst>
        </pc:spChg>
        <pc:spChg chg="del">
          <ac:chgData name="meryjaisy@outlook.com" userId="9d90b41700587de4" providerId="LiveId" clId="{59F5EA02-6EC5-44A7-9721-881EE64E0B6C}" dt="2026-10-10T05:13:31.834" v="18"/>
          <ac:spMkLst>
            <pc:docMk/>
            <pc:sldMk cId="3699218255" sldId="263"/>
            <ac:spMk id="21" creationId="{DC8CA8C5-C26D-7616-A2FE-C945CA3D725A}"/>
          </ac:spMkLst>
        </pc:spChg>
        <pc:spChg chg="del">
          <ac:chgData name="meryjaisy@outlook.com" userId="9d90b41700587de4" providerId="LiveId" clId="{59F5EA02-6EC5-44A7-9721-881EE64E0B6C}" dt="2026-10-10T05:13:31.835" v="19"/>
          <ac:spMkLst>
            <pc:docMk/>
            <pc:sldMk cId="3699218255" sldId="263"/>
            <ac:spMk id="25" creationId="{51E32B35-A38D-B803-16C2-CB015CF4ED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05EA7D-2DA5-404A-922E-BE46C241650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FCB30-81FB-4151-AA11-C1DD0B03B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416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FCB30-81FB-4151-AA11-C1DD0B03B11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463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1440" y="2496312"/>
            <a:ext cx="12024360" cy="7078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 </a:t>
            </a:r>
            <a:r>
              <a:rPr lang="en-US" sz="4000" dirty="0">
                <a:solidFill>
                  <a:schemeClr val="bg1"/>
                </a:solidFill>
              </a:rPr>
              <a:t>TOPIC: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4000" dirty="0"/>
              <a:t>SMART </a:t>
            </a:r>
            <a:r>
              <a:rPr lang="en-IN" sz="4000" dirty="0"/>
              <a:t> </a:t>
            </a:r>
            <a:r>
              <a:rPr sz="4000" dirty="0"/>
              <a:t>STUDENT</a:t>
            </a:r>
            <a:r>
              <a:rPr lang="en-IN" sz="4000" dirty="0"/>
              <a:t> </a:t>
            </a:r>
            <a:r>
              <a:rPr sz="4000" dirty="0"/>
              <a:t>ATTENDANCE </a:t>
            </a:r>
            <a:r>
              <a:rPr lang="en-IN" sz="4000" dirty="0"/>
              <a:t> </a:t>
            </a:r>
            <a:r>
              <a:rPr sz="4000" dirty="0"/>
              <a:t>SYSTEM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06D016-507A-1553-74F0-D91F43B0C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227685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C4AA810-88B0-A195-740D-CA249A416C32}"/>
              </a:ext>
            </a:extLst>
          </p:cNvPr>
          <p:cNvSpPr txBox="1"/>
          <p:nvPr/>
        </p:nvSpPr>
        <p:spPr>
          <a:xfrm>
            <a:off x="1591056" y="4078224"/>
            <a:ext cx="7550658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D2D2D"/>
                </a:solidFill>
              </a:defRPr>
            </a:pPr>
            <a:r>
              <a:rPr lang="en-US" sz="2000" b="1" dirty="0">
                <a:solidFill>
                  <a:schemeClr val="bg1"/>
                </a:solidFill>
              </a:rPr>
              <a:t>Team Members: D. Bhavini </a:t>
            </a:r>
            <a:r>
              <a:rPr lang="en-US" sz="2000" b="1" dirty="0" err="1">
                <a:solidFill>
                  <a:schemeClr val="bg1"/>
                </a:solidFill>
              </a:rPr>
              <a:t>sree</a:t>
            </a:r>
            <a:r>
              <a:rPr lang="en-US" sz="2000" b="1" dirty="0">
                <a:solidFill>
                  <a:schemeClr val="bg1"/>
                </a:solidFill>
              </a:rPr>
              <a:t>(25MVCSMR0482)</a:t>
            </a:r>
          </a:p>
          <a:p>
            <a:pPr>
              <a:spcAft>
                <a:spcPts val="900"/>
              </a:spcAft>
              <a:defRPr sz="1800" b="0">
                <a:solidFill>
                  <a:srgbClr val="2D2D2D"/>
                </a:solidFill>
              </a:defRPr>
            </a:pPr>
            <a:r>
              <a:rPr lang="en-US" sz="2000" b="1" dirty="0">
                <a:solidFill>
                  <a:schemeClr val="bg1"/>
                </a:solidFill>
              </a:rPr>
              <a:t>                                    D. Rohitha(25MVCSMR0480)</a:t>
            </a:r>
          </a:p>
          <a:p>
            <a:pPr>
              <a:spcAft>
                <a:spcPts val="900"/>
              </a:spcAft>
              <a:defRPr sz="1800" b="0">
                <a:solidFill>
                  <a:srgbClr val="2D2D2D"/>
                </a:solidFill>
              </a:defRPr>
            </a:pPr>
            <a:r>
              <a:rPr lang="en-US" sz="2000" b="1" dirty="0">
                <a:solidFill>
                  <a:schemeClr val="bg1"/>
                </a:solidFill>
              </a:rPr>
              <a:t>                                    M. Mery Jaisy(25MVCSMR0516)</a:t>
            </a:r>
          </a:p>
          <a:p>
            <a:pPr>
              <a:spcAft>
                <a:spcPts val="900"/>
              </a:spcAft>
              <a:defRPr sz="1800" b="0">
                <a:solidFill>
                  <a:srgbClr val="2D2D2D"/>
                </a:solidFill>
              </a:defRPr>
            </a:pPr>
            <a:r>
              <a:rPr lang="en-US" sz="2000" b="1" dirty="0">
                <a:solidFill>
                  <a:schemeClr val="bg1"/>
                </a:solidFill>
              </a:rPr>
              <a:t>                                     P. Akshaya(25MVCSMR0524)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0E1B4B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B6789"/>
                </a:solidFill>
                <a:latin typeface="Aptos"/>
              </a:defRPr>
            </a:pPr>
            <a:r>
              <a:t>Why student attendance needs a smarter, more reliable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822960" cy="54864"/>
          </a:xfrm>
          <a:prstGeom prst="rect">
            <a:avLst/>
          </a:prstGeom>
          <a:solidFill>
            <a:srgbClr val="2A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47472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67712"/>
            <a:ext cx="73152" cy="2322576"/>
          </a:xfrm>
          <a:prstGeom prst="rect">
            <a:avLst/>
          </a:prstGeom>
          <a:solidFill>
            <a:srgbClr val="2A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24485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E1B4B"/>
                </a:solidFill>
                <a:latin typeface="Aptos"/>
              </a:defRPr>
            </a:pPr>
            <a:r>
              <a:t>REAL-WORLD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0" y="2761488"/>
            <a:ext cx="3090672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B6789"/>
                </a:solidFill>
                <a:latin typeface="Aptos"/>
              </a:defRPr>
            </a:pPr>
            <a:r>
              <a:rPr sz="1600" b="1" dirty="0"/>
              <a:t>Manual registers and spreadsheets take time to update and maintain.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94560"/>
            <a:ext cx="347472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2267712"/>
            <a:ext cx="73152" cy="2322576"/>
          </a:xfrm>
          <a:prstGeom prst="rect">
            <a:avLst/>
          </a:prstGeom>
          <a:solidFill>
            <a:srgbClr val="7E5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2267712"/>
            <a:ext cx="3008376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E1B4B"/>
                </a:solidFill>
                <a:latin typeface="Aptos"/>
              </a:defRPr>
            </a:pPr>
            <a:r>
              <a:rPr dirty="0"/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61488"/>
            <a:ext cx="3090672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B6789"/>
                </a:solidFill>
                <a:latin typeface="Aptos"/>
              </a:defRPr>
            </a:pPr>
            <a:r>
              <a:rPr sz="1600" b="1" dirty="0"/>
              <a:t>Teachers need dependable records to monitor participation and prepare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94560"/>
            <a:ext cx="347472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2267712"/>
            <a:ext cx="73152" cy="2322576"/>
          </a:xfrm>
          <a:prstGeom prst="rect">
            <a:avLst/>
          </a:prstGeom>
          <a:solidFill>
            <a:srgbClr val="25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2276856"/>
            <a:ext cx="3090672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E1B4B"/>
                </a:solidFill>
                <a:latin typeface="Aptos"/>
              </a:defRPr>
            </a:pPr>
            <a:r>
              <a:rPr dirty="0"/>
              <a:t>KEY 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61488"/>
            <a:ext cx="3090672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B6789"/>
                </a:solidFill>
                <a:latin typeface="Aptos"/>
              </a:defRPr>
            </a:pPr>
            <a:r>
              <a:rPr sz="1600" b="1" dirty="0"/>
              <a:t>Data-entry mistakes, scattered records, slow calculations, and difficult report preparation.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8640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E1B4B"/>
                </a:solidFill>
                <a:latin typeface="Aptos"/>
              </a:defRPr>
            </a:pPr>
            <a:r>
              <a:t>Centralize attendance data and make everyday tasks faster, clearer, and easier to manage.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0E1B4B"/>
                </a:solidFill>
                <a:latin typeface="Aptos"/>
              </a:defRPr>
            </a:pPr>
            <a:r>
              <a:t>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B6789"/>
                </a:solidFill>
                <a:latin typeface="Aptos"/>
              </a:defRPr>
            </a:pPr>
            <a:r>
              <a:t>One simple dashboard for attendance, student records, and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822960" cy="54864"/>
          </a:xfrm>
          <a:prstGeom prst="rect">
            <a:avLst/>
          </a:prstGeom>
          <a:solidFill>
            <a:srgbClr val="2A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4846320" cy="3611880"/>
          </a:xfrm>
          <a:prstGeom prst="roundRect">
            <a:avLst/>
          </a:prstGeom>
          <a:solidFill>
            <a:srgbClr val="0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D2CF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39319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centralized digital</a:t>
            </a:r>
          </a:p>
          <a:p>
            <a:pPr>
              <a:spcAft>
                <a:spcPts val="6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attendance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38404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D8E0FF"/>
                </a:solidFill>
                <a:latin typeface="Aptos"/>
              </a:defRPr>
            </a:pPr>
            <a:r>
              <a:t>Replace scattered paper records with a consistent, searchable digital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2148840"/>
            <a:ext cx="25603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06440" y="2221992"/>
            <a:ext cx="73152" cy="1362456"/>
          </a:xfrm>
          <a:prstGeom prst="rect">
            <a:avLst/>
          </a:prstGeom>
          <a:solidFill>
            <a:srgbClr val="2A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07607" y="2313432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E1B4B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7607" y="2715768"/>
            <a:ext cx="217627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89"/>
                </a:solidFill>
                <a:latin typeface="Aptos"/>
              </a:defRPr>
            </a:pPr>
            <a:r>
              <a:t>Mark Present / Absent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148840"/>
            <a:ext cx="25603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95360" y="2221992"/>
            <a:ext cx="73152" cy="1362456"/>
          </a:xfrm>
          <a:prstGeom prst="rect">
            <a:avLst/>
          </a:prstGeom>
          <a:solidFill>
            <a:srgbClr val="7E5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96528" y="2313432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E1B4B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2715768"/>
            <a:ext cx="217627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89"/>
                </a:solidFill>
                <a:latin typeface="Aptos"/>
              </a:defRPr>
            </a:pPr>
            <a:r>
              <a:t>Add, view, update, delete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3886200"/>
            <a:ext cx="25603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06440" y="3959352"/>
            <a:ext cx="73152" cy="1362456"/>
          </a:xfrm>
          <a:prstGeom prst="rect">
            <a:avLst/>
          </a:prstGeom>
          <a:solidFill>
            <a:srgbClr val="25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07607" y="4050791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E1B4B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7" y="4453128"/>
            <a:ext cx="217627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89"/>
                </a:solidFill>
                <a:latin typeface="Aptos"/>
              </a:defRPr>
            </a:pPr>
            <a:r>
              <a:t>Attendance summaries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3886200"/>
            <a:ext cx="25603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595360" y="3959352"/>
            <a:ext cx="73152" cy="1362456"/>
          </a:xfrm>
          <a:prstGeom prst="rect">
            <a:avLst/>
          </a:prstGeom>
          <a:solidFill>
            <a:srgbClr val="FF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96528" y="4050791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E1B4B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4453128"/>
            <a:ext cx="217627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89"/>
                </a:solidFill>
                <a:latin typeface="Aptos"/>
              </a:defRPr>
            </a:pPr>
            <a:r>
              <a:t>Login and role-based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571500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E1B4B"/>
                </a:solidFill>
                <a:latin typeface="Aptos"/>
              </a:defRPr>
            </a:pPr>
            <a:r>
              <a:t>Unique approach: attendance + records + reports in one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0E1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B6789"/>
                </a:solidFill>
                <a:latin typeface="Aptos"/>
              </a:defRPr>
            </a:pPr>
            <a:r>
              <a:t>Input → Processing → Database →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822960" cy="54864"/>
          </a:xfrm>
          <a:prstGeom prst="rect">
            <a:avLst/>
          </a:prstGeom>
          <a:solidFill>
            <a:srgbClr val="2A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2423160"/>
            <a:ext cx="24231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4088" y="2450592"/>
            <a:ext cx="347472" cy="320040"/>
          </a:xfrm>
          <a:prstGeom prst="ellipse">
            <a:avLst/>
          </a:prstGeom>
          <a:solidFill>
            <a:srgbClr val="2A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86384" y="2880360"/>
            <a:ext cx="2020824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E1B4B"/>
                </a:solidFill>
                <a:latin typeface="Aptos"/>
              </a:defRPr>
            </a:pPr>
            <a:r>
              <a:rPr dirty="0"/>
              <a:t>1 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21813"/>
            <a:ext cx="2029968" cy="6001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89"/>
                </a:solidFill>
                <a:latin typeface="Aptos"/>
              </a:defRPr>
            </a:pPr>
            <a:r>
              <a:rPr dirty="0"/>
              <a:t>Student • Subject</a:t>
            </a:r>
          </a:p>
          <a:p>
            <a:pPr>
              <a:spcAft>
                <a:spcPts val="600"/>
              </a:spcAft>
              <a:defRPr sz="1400" b="0">
                <a:solidFill>
                  <a:srgbClr val="5B6789"/>
                </a:solidFill>
                <a:latin typeface="Aptos"/>
              </a:defRPr>
            </a:pPr>
            <a:r>
              <a:rPr dirty="0"/>
              <a:t>Date •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2926080"/>
            <a:ext cx="3840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2A5B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423160"/>
            <a:ext cx="24231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16452" y="2441448"/>
            <a:ext cx="384048" cy="384048"/>
          </a:xfrm>
          <a:prstGeom prst="ellipse">
            <a:avLst/>
          </a:prstGeom>
          <a:solidFill>
            <a:srgbClr val="7E5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2907792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E1B4B"/>
                </a:solidFill>
                <a:latin typeface="Aptos"/>
              </a:defRPr>
            </a:pPr>
            <a:r>
              <a:rPr dirty="0"/>
              <a:t>2 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3227832"/>
            <a:ext cx="2011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89"/>
                </a:solidFill>
                <a:latin typeface="Aptos"/>
              </a:defRPr>
            </a:pPr>
            <a:r>
              <a:rPr dirty="0"/>
              <a:t>React UI sends</a:t>
            </a:r>
          </a:p>
          <a:p>
            <a:pPr>
              <a:spcAft>
                <a:spcPts val="600"/>
              </a:spcAft>
              <a:defRPr sz="1400" b="0">
                <a:solidFill>
                  <a:srgbClr val="5B6789"/>
                </a:solidFill>
                <a:latin typeface="Aptos"/>
              </a:defRPr>
            </a:pPr>
            <a:r>
              <a:rPr dirty="0"/>
              <a:t>API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2926080"/>
            <a:ext cx="3840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2A5B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423160"/>
            <a:ext cx="24231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28816" y="2459736"/>
            <a:ext cx="384048" cy="384048"/>
          </a:xfrm>
          <a:prstGeom prst="ellipse">
            <a:avLst/>
          </a:prstGeom>
          <a:solidFill>
            <a:srgbClr val="25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47688" y="2907792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E1B4B"/>
                </a:solidFill>
                <a:latin typeface="Aptos"/>
              </a:defRPr>
            </a:pPr>
            <a:r>
              <a:rPr dirty="0"/>
              <a:t>3 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099816"/>
            <a:ext cx="2011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89"/>
                </a:solidFill>
                <a:latin typeface="Aptos"/>
              </a:defRPr>
            </a:pPr>
            <a:r>
              <a:rPr dirty="0"/>
              <a:t>Node + Express</a:t>
            </a:r>
          </a:p>
          <a:p>
            <a:pPr>
              <a:spcAft>
                <a:spcPts val="600"/>
              </a:spcAft>
              <a:defRPr sz="1400" b="0">
                <a:solidFill>
                  <a:srgbClr val="5B6789"/>
                </a:solidFill>
                <a:latin typeface="Aptos"/>
              </a:defRPr>
            </a:pPr>
            <a:r>
              <a:rPr dirty="0"/>
              <a:t>MongoDB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2926080"/>
            <a:ext cx="3840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2A5B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2423160"/>
            <a:ext cx="24231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64040" y="2459736"/>
            <a:ext cx="384048" cy="384048"/>
          </a:xfrm>
          <a:prstGeom prst="ellipse">
            <a:avLst/>
          </a:prstGeom>
          <a:solidFill>
            <a:srgbClr val="FF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73768" y="2916936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E1B4B"/>
                </a:solidFill>
                <a:latin typeface="Aptos"/>
              </a:defRPr>
            </a:pPr>
            <a:r>
              <a:rPr dirty="0"/>
              <a:t>4 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3172968"/>
            <a:ext cx="2011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89"/>
                </a:solidFill>
                <a:latin typeface="Aptos"/>
              </a:defRPr>
            </a:pPr>
            <a:r>
              <a:rPr dirty="0"/>
              <a:t>Dashboard and</a:t>
            </a:r>
          </a:p>
          <a:p>
            <a:pPr>
              <a:spcAft>
                <a:spcPts val="600"/>
              </a:spcAft>
              <a:defRPr sz="1400" b="0">
                <a:solidFill>
                  <a:srgbClr val="5B6789"/>
                </a:solidFill>
                <a:latin typeface="Aptos"/>
              </a:defRPr>
            </a:pPr>
            <a:r>
              <a:rPr dirty="0"/>
              <a:t>attendance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572000"/>
            <a:ext cx="10652760" cy="1051560"/>
          </a:xfrm>
          <a:prstGeom prst="roundRect">
            <a:avLst/>
          </a:prstGeom>
          <a:solidFill>
            <a:srgbClr val="E2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4773168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A5BDC"/>
                </a:solidFill>
                <a:latin typeface="Aptos"/>
              </a:defRPr>
            </a:pPr>
            <a:r>
              <a:t>USER JOURNEY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754880"/>
            <a:ext cx="8412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E1B4B"/>
                </a:solidFill>
                <a:latin typeface="Aptos"/>
              </a:defRPr>
            </a:pPr>
            <a:r>
              <a:t>Login  →  Choose class / subject / date  →  Mark attendance  →  Save  →  View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897880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B6789"/>
                </a:solidFill>
                <a:latin typeface="Aptos"/>
              </a:defRPr>
            </a:pPr>
            <a:r>
              <a:t>Access to actions can be controlled by user role (e.g., admin or teacher).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0E1B4B"/>
                </a:solidFill>
                <a:latin typeface="Aptos"/>
              </a:defRPr>
            </a:pPr>
            <a:r>
              <a:t>Technology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B6789"/>
                </a:solidFill>
                <a:latin typeface="Aptos"/>
              </a:defRPr>
            </a:pPr>
            <a:r>
              <a:t>MERN stack + straightforward, explainable data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822960" cy="54864"/>
          </a:xfrm>
          <a:prstGeom prst="rect">
            <a:avLst/>
          </a:prstGeom>
          <a:solidFill>
            <a:srgbClr val="2A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A5BDC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20"/>
            <a:ext cx="42062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2679191"/>
            <a:ext cx="310896" cy="310896"/>
          </a:xfrm>
          <a:prstGeom prst="ellipse">
            <a:avLst/>
          </a:prstGeom>
          <a:solidFill>
            <a:srgbClr val="2E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2633472"/>
            <a:ext cx="1508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E1B4B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51760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B6789"/>
                </a:solidFill>
                <a:latin typeface="Aptos"/>
              </a:defRPr>
            </a:pPr>
            <a:r>
              <a:t>Frontend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73552"/>
            <a:ext cx="42062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3392424"/>
            <a:ext cx="310896" cy="310896"/>
          </a:xfrm>
          <a:prstGeom prst="ellipse">
            <a:avLst/>
          </a:prstGeom>
          <a:solidFill>
            <a:srgbClr val="25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3346704"/>
            <a:ext cx="1508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E1B4B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64992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B6789"/>
                </a:solidFill>
                <a:latin typeface="Aptos"/>
              </a:defRPr>
            </a:pPr>
            <a:r>
              <a:t>Backend 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86783"/>
            <a:ext cx="42062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4105655"/>
            <a:ext cx="310896" cy="310896"/>
          </a:xfrm>
          <a:prstGeom prst="ellipse">
            <a:avLst/>
          </a:prstGeom>
          <a:solidFill>
            <a:srgbClr val="7E5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4059935"/>
            <a:ext cx="1508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E1B4B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078223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B6789"/>
                </a:solidFill>
                <a:latin typeface="Aptos"/>
              </a:defRPr>
            </a:pPr>
            <a:r>
              <a:t>REST API framework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00016"/>
            <a:ext cx="42062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4818888"/>
            <a:ext cx="310896" cy="310896"/>
          </a:xfrm>
          <a:prstGeom prst="ellipse">
            <a:avLst/>
          </a:prstGeom>
          <a:solidFill>
            <a:srgbClr val="FF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4773168"/>
            <a:ext cx="1508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E1B4B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791455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B6789"/>
                </a:solidFill>
                <a:latin typeface="Aptos"/>
              </a:defRPr>
            </a:pPr>
            <a:r>
              <a:t>Attendance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148840"/>
            <a:ext cx="4114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A5BDC"/>
                </a:solidFill>
                <a:latin typeface="Aptos"/>
              </a:defRPr>
            </a:pPr>
            <a:r>
              <a:t>MAIN ALGORITHMS / CONCEPTS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560320"/>
            <a:ext cx="26060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0" y="2633472"/>
            <a:ext cx="73152" cy="950976"/>
          </a:xfrm>
          <a:prstGeom prst="rect">
            <a:avLst/>
          </a:prstGeom>
          <a:solidFill>
            <a:srgbClr val="2A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87568" y="2724912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E1B4B"/>
                </a:solidFill>
                <a:latin typeface="Aptos"/>
              </a:defRPr>
            </a:pPr>
            <a:r>
              <a:t>CRUD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3127248"/>
            <a:ext cx="222199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B6789"/>
                </a:solidFill>
                <a:latin typeface="Aptos"/>
              </a:defRPr>
            </a:pPr>
            <a:r>
              <a:t>Create • Read</a:t>
            </a:r>
          </a:p>
          <a:p>
            <a:pPr>
              <a:spcAft>
                <a:spcPts val="600"/>
              </a:spcAft>
              <a:defRPr sz="1200" b="0">
                <a:solidFill>
                  <a:srgbClr val="5B6789"/>
                </a:solidFill>
                <a:latin typeface="Aptos"/>
              </a:defRPr>
            </a:pPr>
            <a:r>
              <a:t>Update • Delete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256032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21040" y="2633472"/>
            <a:ext cx="73152" cy="950976"/>
          </a:xfrm>
          <a:prstGeom prst="rect">
            <a:avLst/>
          </a:prstGeom>
          <a:solidFill>
            <a:srgbClr val="7E5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22208" y="2724912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E1B4B"/>
                </a:solidFill>
                <a:latin typeface="Aptos"/>
              </a:defRPr>
            </a:pPr>
            <a:r>
              <a:t>FILTERING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3127248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B6789"/>
                </a:solidFill>
                <a:latin typeface="Aptos"/>
              </a:defRPr>
            </a:pPr>
            <a:r>
              <a:t>Find by student,</a:t>
            </a:r>
          </a:p>
          <a:p>
            <a:pPr>
              <a:spcAft>
                <a:spcPts val="600"/>
              </a:spcAft>
              <a:defRPr sz="1200" b="0">
                <a:solidFill>
                  <a:srgbClr val="5B6789"/>
                </a:solidFill>
                <a:latin typeface="Aptos"/>
              </a:defRPr>
            </a:pPr>
            <a:r>
              <a:t>subject, or date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3886200"/>
            <a:ext cx="26060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0" y="3959352"/>
            <a:ext cx="73152" cy="950976"/>
          </a:xfrm>
          <a:prstGeom prst="rect">
            <a:avLst/>
          </a:prstGeom>
          <a:solidFill>
            <a:srgbClr val="25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87568" y="4050791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E1B4B"/>
                </a:solidFill>
                <a:latin typeface="Aptos"/>
              </a:defRPr>
            </a:pPr>
            <a:r>
              <a:t>CALCULATION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7568" y="4453128"/>
            <a:ext cx="222199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B6789"/>
                </a:solidFill>
                <a:latin typeface="Aptos"/>
              </a:defRPr>
            </a:pPr>
            <a:r>
              <a:t>Attendance % from</a:t>
            </a:r>
          </a:p>
          <a:p>
            <a:pPr>
              <a:spcAft>
                <a:spcPts val="600"/>
              </a:spcAft>
              <a:defRPr sz="1200" b="0">
                <a:solidFill>
                  <a:srgbClr val="5B6789"/>
                </a:solidFill>
                <a:latin typeface="Aptos"/>
              </a:defRPr>
            </a:pPr>
            <a:r>
              <a:t>attended / total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388620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21040" y="3959352"/>
            <a:ext cx="73152" cy="950976"/>
          </a:xfrm>
          <a:prstGeom prst="rect">
            <a:avLst/>
          </a:prstGeom>
          <a:solidFill>
            <a:srgbClr val="FF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22208" y="4050791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E1B4B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4453128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B6789"/>
                </a:solidFill>
                <a:latin typeface="Aptos"/>
              </a:defRPr>
            </a:pPr>
            <a:r>
              <a:t>Login and role-based</a:t>
            </a:r>
          </a:p>
          <a:p>
            <a:pPr>
              <a:spcAft>
                <a:spcPts val="600"/>
              </a:spcAft>
              <a:defRPr sz="1200" b="0">
                <a:solidFill>
                  <a:srgbClr val="5B6789"/>
                </a:solidFill>
                <a:latin typeface="Aptos"/>
              </a:defRPr>
            </a:pPr>
            <a:r>
              <a:t>permissions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34924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A5BDC"/>
                </a:solidFill>
                <a:latin typeface="Aptos"/>
              </a:defRPr>
            </a:pPr>
            <a:r>
              <a:t>WHY THIS STACK?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5669280"/>
            <a:ext cx="5760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E1B4B"/>
                </a:solidFill>
                <a:latin typeface="Aptos"/>
              </a:defRPr>
            </a:pPr>
            <a:r>
              <a:t>JavaScript across the app • reusable UI • flexible data storage • clear API integration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989320"/>
            <a:ext cx="4572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B6789"/>
                </a:solidFill>
                <a:latin typeface="Aptos"/>
              </a:defRPr>
            </a:pPr>
            <a:r>
              <a:t>Complexity: indexed lookup is typically O(1) average; unindexed search is O(n).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0E1B4B"/>
                </a:solidFill>
                <a:latin typeface="Aptos"/>
              </a:defRPr>
            </a:pPr>
            <a:r>
              <a:t>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B6789"/>
                </a:solidFill>
                <a:latin typeface="Aptos"/>
              </a:defRPr>
            </a:pPr>
            <a:r>
              <a:t>Example dashboard output and practical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822960" cy="54864"/>
          </a:xfrm>
          <a:prstGeom prst="rect">
            <a:avLst/>
          </a:prstGeom>
          <a:solidFill>
            <a:srgbClr val="2A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66751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234440" cy="3063240"/>
          </a:xfrm>
          <a:prstGeom prst="roundRect">
            <a:avLst/>
          </a:prstGeom>
          <a:solidFill>
            <a:srgbClr val="0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578608"/>
            <a:ext cx="10058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SMART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DCE5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49040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DCE5FF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DCE5FF"/>
                </a:solidFill>
                <a:latin typeface="Aptos"/>
              </a:defRPr>
            </a:pPr>
            <a:r>
              <a:t>Subjects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80560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DCE5FF"/>
                </a:solidFill>
                <a:latin typeface="Aptos"/>
              </a:defRPr>
            </a:pPr>
            <a:r>
              <a:t>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46320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DCE5FF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468880"/>
            <a:ext cx="3474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E1B4B"/>
                </a:solidFill>
                <a:latin typeface="Aptos"/>
              </a:defRPr>
            </a:pPr>
            <a:r>
              <a:t>Attendance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97180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B6789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971800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B6789"/>
                </a:solidFill>
                <a:latin typeface="Aptos"/>
              </a:defRPr>
            </a:pPr>
            <a:r>
              <a:t>Subject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71800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B6789"/>
                </a:solidFill>
                <a:latin typeface="Aptos"/>
              </a:defRPr>
            </a:pPr>
            <a:r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971800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B6789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310128"/>
            <a:ext cx="470916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23160" y="3401568"/>
            <a:ext cx="12344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D274B"/>
                </a:solidFill>
                <a:latin typeface="Aptos"/>
              </a:defRPr>
            </a:pPr>
            <a:r>
              <a:t>Rahul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40156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D274B"/>
                </a:solidFill>
                <a:latin typeface="Aptos"/>
              </a:defRPr>
            </a:pPr>
            <a:r>
              <a:t>Maths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40156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D274B"/>
                </a:solidFill>
                <a:latin typeface="Aptos"/>
              </a:defRPr>
            </a:pPr>
            <a:r>
              <a:t>10 Oct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401568"/>
            <a:ext cx="10515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5BE82"/>
                </a:solidFill>
                <a:latin typeface="Aptos"/>
              </a:defRPr>
            </a:pPr>
            <a:r>
              <a:t>Present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3904488"/>
            <a:ext cx="470916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23160" y="3995928"/>
            <a:ext cx="12344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D274B"/>
                </a:solidFill>
                <a:latin typeface="Aptos"/>
              </a:defRPr>
            </a:pPr>
            <a:r>
              <a:t>Priya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9959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D274B"/>
                </a:solidFill>
                <a:latin typeface="Aptos"/>
              </a:defRPr>
            </a:pPr>
            <a:r>
              <a:t>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9959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D274B"/>
                </a:solidFill>
                <a:latin typeface="Aptos"/>
              </a:defRPr>
            </a:pPr>
            <a:r>
              <a:t>10 Oct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995928"/>
            <a:ext cx="10515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AE42"/>
                </a:solidFill>
                <a:latin typeface="Aptos"/>
              </a:defRPr>
            </a:pPr>
            <a:r>
              <a:t>Absent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498848"/>
            <a:ext cx="470916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23160" y="4590288"/>
            <a:ext cx="12344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D274B"/>
                </a:solidFill>
                <a:latin typeface="Aptos"/>
              </a:defRPr>
            </a:pPr>
            <a:r>
              <a:t>Anjali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59028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D274B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59028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D274B"/>
                </a:solidFill>
                <a:latin typeface="Aptos"/>
              </a:defRPr>
            </a:pPr>
            <a:r>
              <a:t>10 Oct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590288"/>
            <a:ext cx="10515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5BE82"/>
                </a:solidFill>
                <a:latin typeface="Aptos"/>
              </a:defRPr>
            </a:pPr>
            <a:r>
              <a:t>Present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2240280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A5BDC"/>
                </a:solidFill>
                <a:latin typeface="Aptos"/>
              </a:defRPr>
            </a:pPr>
            <a:r>
              <a:t>PRACTICAL BENEFITS</a:t>
            </a:r>
          </a:p>
        </p:txBody>
      </p:sp>
      <p:sp>
        <p:nvSpPr>
          <p:cNvPr id="35" name="Oval 34"/>
          <p:cNvSpPr/>
          <p:nvPr/>
        </p:nvSpPr>
        <p:spPr>
          <a:xfrm>
            <a:off x="7772400" y="2697480"/>
            <a:ext cx="365760" cy="365760"/>
          </a:xfrm>
          <a:prstGeom prst="ellipse">
            <a:avLst/>
          </a:prstGeom>
          <a:solidFill>
            <a:srgbClr val="2A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90688" y="2770632"/>
            <a:ext cx="32918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724912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E1B4B"/>
                </a:solidFill>
                <a:latin typeface="Aptos"/>
              </a:defRPr>
            </a:pPr>
            <a:r>
              <a:t>Less paperwork</a:t>
            </a:r>
          </a:p>
        </p:txBody>
      </p:sp>
      <p:sp>
        <p:nvSpPr>
          <p:cNvPr id="38" name="Oval 37"/>
          <p:cNvSpPr/>
          <p:nvPr/>
        </p:nvSpPr>
        <p:spPr>
          <a:xfrm>
            <a:off x="7772400" y="3319272"/>
            <a:ext cx="365760" cy="365760"/>
          </a:xfrm>
          <a:prstGeom prst="ellipse">
            <a:avLst/>
          </a:prstGeom>
          <a:solidFill>
            <a:srgbClr val="7E5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90688" y="3392424"/>
            <a:ext cx="32918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346704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E1B4B"/>
                </a:solidFill>
                <a:latin typeface="Aptos"/>
              </a:defRPr>
            </a:pPr>
            <a:r>
              <a:t>Faster reporting</a:t>
            </a:r>
          </a:p>
        </p:txBody>
      </p:sp>
      <p:sp>
        <p:nvSpPr>
          <p:cNvPr id="41" name="Oval 40"/>
          <p:cNvSpPr/>
          <p:nvPr/>
        </p:nvSpPr>
        <p:spPr>
          <a:xfrm>
            <a:off x="7772400" y="3941064"/>
            <a:ext cx="365760" cy="365760"/>
          </a:xfrm>
          <a:prstGeom prst="ellipse">
            <a:avLst/>
          </a:prstGeom>
          <a:solidFill>
            <a:srgbClr val="25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90688" y="4014216"/>
            <a:ext cx="32918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96849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E1B4B"/>
                </a:solidFill>
                <a:latin typeface="Aptos"/>
              </a:defRPr>
            </a:pPr>
            <a:r>
              <a:t>Fewer manual errors</a:t>
            </a:r>
          </a:p>
        </p:txBody>
      </p:sp>
      <p:sp>
        <p:nvSpPr>
          <p:cNvPr id="44" name="Oval 43"/>
          <p:cNvSpPr/>
          <p:nvPr/>
        </p:nvSpPr>
        <p:spPr>
          <a:xfrm>
            <a:off x="7772400" y="4562856"/>
            <a:ext cx="365760" cy="365760"/>
          </a:xfrm>
          <a:prstGeom prst="ellipse">
            <a:avLst/>
          </a:prstGeom>
          <a:solidFill>
            <a:srgbClr val="FF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90688" y="4636008"/>
            <a:ext cx="32918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590288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E1B4B"/>
                </a:solidFill>
                <a:latin typeface="Aptos"/>
              </a:defRPr>
            </a:pPr>
            <a:r>
              <a:t>Clearer monitoring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94360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B6789"/>
                </a:solidFill>
                <a:latin typeface="Aptos"/>
              </a:defRPr>
            </a:pPr>
            <a:r>
              <a:t>Sample records shown for demonstration; actual performance should be measured during testing.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FDAFF"/>
                </a:solidFill>
                <a:latin typeface="Aptos"/>
              </a:defRPr>
            </a:pPr>
            <a:r>
              <a:t>Building a scalable attendance platform for modern education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822960" cy="54864"/>
          </a:xfrm>
          <a:prstGeom prst="rect">
            <a:avLst/>
          </a:prstGeom>
          <a:solidFill>
            <a:srgbClr val="2E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2057400" cy="1508760"/>
          </a:xfrm>
          <a:prstGeom prst="roundRect">
            <a:avLst/>
          </a:prstGeom>
          <a:solidFill>
            <a:srgbClr val="1F2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53312" y="2560320"/>
            <a:ext cx="530352" cy="530352"/>
          </a:xfrm>
          <a:prstGeom prst="ellipse">
            <a:avLst/>
          </a:prstGeom>
          <a:solidFill>
            <a:srgbClr val="2E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324612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783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D6E0FF"/>
                </a:solidFill>
                <a:latin typeface="Aptos"/>
              </a:defRPr>
            </a:pPr>
            <a:r>
              <a:t>Access on iOS / Android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2331720"/>
            <a:ext cx="2057400" cy="1508760"/>
          </a:xfrm>
          <a:prstGeom prst="roundRect">
            <a:avLst/>
          </a:prstGeom>
          <a:solidFill>
            <a:srgbClr val="1F2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5031" y="2560320"/>
            <a:ext cx="530352" cy="530352"/>
          </a:xfrm>
          <a:prstGeom prst="ellipse">
            <a:avLst/>
          </a:prstGeom>
          <a:solidFill>
            <a:srgbClr val="7E5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324612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QR CHECK-IN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3566160"/>
            <a:ext cx="1783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D6E0FF"/>
                </a:solidFill>
                <a:latin typeface="Aptos"/>
              </a:defRPr>
            </a:pPr>
            <a:r>
              <a:t>Faster attendance marking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331720"/>
            <a:ext cx="2057400" cy="1508760"/>
          </a:xfrm>
          <a:prstGeom prst="roundRect">
            <a:avLst/>
          </a:prstGeom>
          <a:solidFill>
            <a:srgbClr val="1F2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016752" y="2560320"/>
            <a:ext cx="530352" cy="530352"/>
          </a:xfrm>
          <a:prstGeom prst="ellipse">
            <a:avLst/>
          </a:prstGeom>
          <a:solidFill>
            <a:srgbClr val="25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67528" y="324612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SMART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465576"/>
            <a:ext cx="1783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D6E0FF"/>
                </a:solidFill>
                <a:latin typeface="Aptos"/>
              </a:defRPr>
            </a:pPr>
            <a:r>
              <a:rPr dirty="0"/>
              <a:t>Low-attendance notifications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19" y="2331720"/>
            <a:ext cx="2057400" cy="1508760"/>
          </a:xfrm>
          <a:prstGeom prst="roundRect">
            <a:avLst/>
          </a:prstGeom>
          <a:solidFill>
            <a:srgbClr val="1F2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48471" y="2560320"/>
            <a:ext cx="530352" cy="530352"/>
          </a:xfrm>
          <a:prstGeom prst="ellipse">
            <a:avLst/>
          </a:prstGeom>
          <a:solidFill>
            <a:srgbClr val="FF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9247" y="324612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566160"/>
            <a:ext cx="1783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D6E0FF"/>
                </a:solidFill>
                <a:latin typeface="Aptos"/>
              </a:defRPr>
            </a:pPr>
            <a:r>
              <a:t>Trends and visual reports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2331720"/>
            <a:ext cx="2057400" cy="1508760"/>
          </a:xfrm>
          <a:prstGeom prst="roundRect">
            <a:avLst/>
          </a:prstGeom>
          <a:solidFill>
            <a:srgbClr val="1F2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680192" y="2560320"/>
            <a:ext cx="530352" cy="530352"/>
          </a:xfrm>
          <a:prstGeom prst="ellipse">
            <a:avLst/>
          </a:prstGeom>
          <a:solidFill>
            <a:srgbClr val="2A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30967" y="324612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CLOUD 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465576"/>
            <a:ext cx="1783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D6E0FF"/>
                </a:solidFill>
                <a:latin typeface="Aptos"/>
              </a:defRPr>
            </a:pPr>
            <a:r>
              <a:rPr dirty="0"/>
              <a:t>Backups and scalable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3484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D2CF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00600"/>
            <a:ext cx="97840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Smarter attendance. Faster reporting. Better academic monitoring.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C6D58-3093-9DE6-A51D-E64331195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B2AB06-F1DD-E2D4-F697-EF979175AA69}"/>
              </a:ext>
            </a:extLst>
          </p:cNvPr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Future Vision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42BA82-0C82-BD6A-D23D-F7160197FBB6}"/>
              </a:ext>
            </a:extLst>
          </p:cNvPr>
          <p:cNvSpPr txBox="1"/>
          <p:nvPr/>
        </p:nvSpPr>
        <p:spPr>
          <a:xfrm>
            <a:off x="704088" y="324612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MOBILE APP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3AAC95-D17C-16CA-B5CF-393D42B21CB8}"/>
              </a:ext>
            </a:extLst>
          </p:cNvPr>
          <p:cNvSpPr txBox="1"/>
          <p:nvPr/>
        </p:nvSpPr>
        <p:spPr>
          <a:xfrm>
            <a:off x="5367528" y="324612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SMART ALERTS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9F6BBA-04D3-4914-A416-931F8F5F15EC}"/>
              </a:ext>
            </a:extLst>
          </p:cNvPr>
          <p:cNvSpPr txBox="1"/>
          <p:nvPr/>
        </p:nvSpPr>
        <p:spPr>
          <a:xfrm>
            <a:off x="10030967" y="324612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CLOUD READY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5494A0-8CB8-CF2D-1656-4F6B967A1B2D}"/>
              </a:ext>
            </a:extLst>
          </p:cNvPr>
          <p:cNvSpPr txBox="1"/>
          <p:nvPr/>
        </p:nvSpPr>
        <p:spPr>
          <a:xfrm>
            <a:off x="777240" y="4800600"/>
            <a:ext cx="97840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Smarter attendance. Faster reporting. Better academic monitoring.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48C58B-5D50-2A2D-00E6-F3E38E7E62F7}"/>
              </a:ext>
            </a:extLst>
          </p:cNvPr>
          <p:cNvSpPr txBox="1"/>
          <p:nvPr/>
        </p:nvSpPr>
        <p:spPr>
          <a:xfrm>
            <a:off x="2660904" y="2816353"/>
            <a:ext cx="64808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/>
              <a:t>&lt;THANK~YOU&gt;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9218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493</Words>
  <Application>Microsoft Office PowerPoint</Application>
  <PresentationFormat>Widescreen</PresentationFormat>
  <Paragraphs>133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Mery Jaisy</dc:creator>
  <cp:keywords/>
  <dc:description>generated using python-pptx</dc:description>
  <cp:lastModifiedBy>meryjaisy@outlook.com</cp:lastModifiedBy>
  <cp:revision>1</cp:revision>
  <dcterms:created xsi:type="dcterms:W3CDTF">2013-01-27T09:14:16Z</dcterms:created>
  <dcterms:modified xsi:type="dcterms:W3CDTF">2026-10-10T05:13:58Z</dcterms:modified>
  <cp:category/>
</cp:coreProperties>
</file>